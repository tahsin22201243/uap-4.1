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8288000" cy="10287000"/>
  <p:notesSz cx="6858000" cy="9144000"/>
  <p:embeddedFontLst>
    <p:embeddedFont>
      <p:font typeface="Arimo Bold" panose="020B0604020202020204" charset="0"/>
      <p:regular r:id="rId13"/>
    </p:embeddedFont>
    <p:embeddedFont>
      <p:font typeface="ITC Avant Garde Gothic Bold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69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4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9.sv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9.svg"/><Relationship Id="rId9" Type="http://schemas.openxmlformats.org/officeDocument/2006/relationships/hyperlink" Target="https://www.youtube.com/watch?v=t7k9D1jDEt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2337"/>
            <a:ext cx="5998829" cy="5998829"/>
          </a:xfrm>
          <a:custGeom>
            <a:avLst/>
            <a:gdLst/>
            <a:ahLst/>
            <a:cxnLst/>
            <a:rect l="l" t="t" r="r" b="b"/>
            <a:pathLst>
              <a:path w="5998829" h="5998829">
                <a:moveTo>
                  <a:pt x="0" y="0"/>
                </a:moveTo>
                <a:lnTo>
                  <a:pt x="5998829" y="0"/>
                </a:lnTo>
                <a:lnTo>
                  <a:pt x="5998829" y="5998829"/>
                </a:lnTo>
                <a:lnTo>
                  <a:pt x="0" y="59988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1631923" y="1033692"/>
            <a:ext cx="3073400" cy="3073400"/>
          </a:xfrm>
          <a:custGeom>
            <a:avLst/>
            <a:gdLst/>
            <a:ahLst/>
            <a:cxnLst/>
            <a:rect l="l" t="t" r="r" b="b"/>
            <a:pathLst>
              <a:path w="3073400" h="3073400">
                <a:moveTo>
                  <a:pt x="0" y="0"/>
                </a:moveTo>
                <a:lnTo>
                  <a:pt x="3073400" y="0"/>
                </a:lnTo>
                <a:lnTo>
                  <a:pt x="3073400" y="3073400"/>
                </a:lnTo>
                <a:lnTo>
                  <a:pt x="0" y="3073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2289171" y="4288171"/>
            <a:ext cx="5998829" cy="5998829"/>
          </a:xfrm>
          <a:custGeom>
            <a:avLst/>
            <a:gdLst/>
            <a:ahLst/>
            <a:cxnLst/>
            <a:rect l="l" t="t" r="r" b="b"/>
            <a:pathLst>
              <a:path w="5998829" h="5998829">
                <a:moveTo>
                  <a:pt x="5998829" y="5998829"/>
                </a:moveTo>
                <a:lnTo>
                  <a:pt x="0" y="5998829"/>
                </a:lnTo>
                <a:lnTo>
                  <a:pt x="0" y="0"/>
                </a:lnTo>
                <a:lnTo>
                  <a:pt x="5998829" y="0"/>
                </a:lnTo>
                <a:lnTo>
                  <a:pt x="5998829" y="599882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H="1" flipV="1">
            <a:off x="14185900" y="6184900"/>
            <a:ext cx="3073400" cy="3073400"/>
          </a:xfrm>
          <a:custGeom>
            <a:avLst/>
            <a:gdLst/>
            <a:ahLst/>
            <a:cxnLst/>
            <a:rect l="l" t="t" r="r" b="b"/>
            <a:pathLst>
              <a:path w="3073400" h="3073400">
                <a:moveTo>
                  <a:pt x="3073400" y="3073400"/>
                </a:moveTo>
                <a:lnTo>
                  <a:pt x="0" y="3073400"/>
                </a:lnTo>
                <a:lnTo>
                  <a:pt x="0" y="0"/>
                </a:lnTo>
                <a:lnTo>
                  <a:pt x="3073400" y="0"/>
                </a:lnTo>
                <a:lnTo>
                  <a:pt x="3073400" y="30734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082238" y="-22337"/>
            <a:ext cx="2205762" cy="2205762"/>
          </a:xfrm>
          <a:custGeom>
            <a:avLst/>
            <a:gdLst/>
            <a:ahLst/>
            <a:cxnLst/>
            <a:rect l="l" t="t" r="r" b="b"/>
            <a:pathLst>
              <a:path w="2205762" h="2205762">
                <a:moveTo>
                  <a:pt x="0" y="0"/>
                </a:moveTo>
                <a:lnTo>
                  <a:pt x="2205762" y="0"/>
                </a:lnTo>
                <a:lnTo>
                  <a:pt x="2205762" y="2205762"/>
                </a:lnTo>
                <a:lnTo>
                  <a:pt x="0" y="22057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8081238"/>
            <a:ext cx="2205762" cy="2205762"/>
          </a:xfrm>
          <a:custGeom>
            <a:avLst/>
            <a:gdLst/>
            <a:ahLst/>
            <a:cxnLst/>
            <a:rect l="l" t="t" r="r" b="b"/>
            <a:pathLst>
              <a:path w="2205762" h="2205762">
                <a:moveTo>
                  <a:pt x="0" y="0"/>
                </a:moveTo>
                <a:lnTo>
                  <a:pt x="2205762" y="0"/>
                </a:lnTo>
                <a:lnTo>
                  <a:pt x="2205762" y="2205762"/>
                </a:lnTo>
                <a:lnTo>
                  <a:pt x="0" y="22057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799755" y="-22337"/>
            <a:ext cx="2941671" cy="2844426"/>
          </a:xfrm>
          <a:custGeom>
            <a:avLst/>
            <a:gdLst/>
            <a:ahLst/>
            <a:cxnLst/>
            <a:rect l="l" t="t" r="r" b="b"/>
            <a:pathLst>
              <a:path w="2941671" h="2844426">
                <a:moveTo>
                  <a:pt x="0" y="0"/>
                </a:moveTo>
                <a:lnTo>
                  <a:pt x="2941671" y="0"/>
                </a:lnTo>
                <a:lnTo>
                  <a:pt x="2941671" y="2844426"/>
                </a:lnTo>
                <a:lnTo>
                  <a:pt x="0" y="28444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980055" y="2990223"/>
            <a:ext cx="11088145" cy="121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INFRARED  SENSOR(IR)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67370" y="4742210"/>
            <a:ext cx="5323127" cy="2979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6"/>
              </a:lnSpc>
            </a:pPr>
            <a:r>
              <a:rPr lang="en-US" sz="3304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SUBMITTED BY:</a:t>
            </a:r>
          </a:p>
          <a:p>
            <a:pPr algn="ctr">
              <a:lnSpc>
                <a:spcPts val="4626"/>
              </a:lnSpc>
            </a:pPr>
            <a:r>
              <a:rPr lang="en-US" sz="3304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H.M. TAHSIN SHEIKH</a:t>
            </a:r>
          </a:p>
          <a:p>
            <a:pPr algn="ctr">
              <a:lnSpc>
                <a:spcPts val="4626"/>
              </a:lnSpc>
              <a:spcBef>
                <a:spcPct val="0"/>
              </a:spcBef>
            </a:pPr>
            <a:r>
              <a:rPr lang="en-US" sz="3304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ID: 22201243</a:t>
            </a:r>
          </a:p>
          <a:p>
            <a:pPr algn="ctr">
              <a:lnSpc>
                <a:spcPts val="4626"/>
              </a:lnSpc>
              <a:spcBef>
                <a:spcPct val="0"/>
              </a:spcBef>
            </a:pPr>
            <a:r>
              <a:rPr lang="en-US" sz="3304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SEC: E</a:t>
            </a:r>
          </a:p>
          <a:p>
            <a:pPr algn="ctr">
              <a:lnSpc>
                <a:spcPts val="4626"/>
              </a:lnSpc>
              <a:spcBef>
                <a:spcPct val="0"/>
              </a:spcBef>
            </a:pPr>
            <a:r>
              <a:rPr lang="en-US" sz="3304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COURSE CODE : CSE 437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44828" y="4643959"/>
            <a:ext cx="6488687" cy="2954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SUBMITTED TO: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A.S. ZAFORULLAH MOMTAZ ASSISTANT PROFESSOR DEPARTMENT OF CSE UNIVERSITY OF ASIA PACIFIC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19050" y="82486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249650" y="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9050" y="365463"/>
            <a:ext cx="2037880" cy="663237"/>
          </a:xfrm>
          <a:custGeom>
            <a:avLst/>
            <a:gdLst/>
            <a:ahLst/>
            <a:cxnLst/>
            <a:rect l="l" t="t" r="r" b="b"/>
            <a:pathLst>
              <a:path w="2037880" h="663237">
                <a:moveTo>
                  <a:pt x="0" y="0"/>
                </a:moveTo>
                <a:lnTo>
                  <a:pt x="2037880" y="0"/>
                </a:lnTo>
                <a:lnTo>
                  <a:pt x="2037880" y="663237"/>
                </a:lnTo>
                <a:lnTo>
                  <a:pt x="0" y="663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44442" y="9258300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026445" y="2903884"/>
            <a:ext cx="6261555" cy="4596694"/>
          </a:xfrm>
          <a:custGeom>
            <a:avLst/>
            <a:gdLst/>
            <a:ahLst/>
            <a:cxnLst/>
            <a:rect l="l" t="t" r="r" b="b"/>
            <a:pathLst>
              <a:path w="6261555" h="4596694">
                <a:moveTo>
                  <a:pt x="0" y="0"/>
                </a:moveTo>
                <a:lnTo>
                  <a:pt x="6261555" y="0"/>
                </a:lnTo>
                <a:lnTo>
                  <a:pt x="6261555" y="4596693"/>
                </a:lnTo>
                <a:lnTo>
                  <a:pt x="0" y="45966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28905" y="439906"/>
            <a:ext cx="9468808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3421" y="3188053"/>
            <a:ext cx="9503936" cy="3902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2873" lvl="1" indent="-336436" algn="ctr">
              <a:lnSpc>
                <a:spcPts val="4363"/>
              </a:lnSpc>
              <a:buFont typeface="Arial"/>
              <a:buChar char="•"/>
            </a:pPr>
            <a:r>
              <a:rPr lang="en-US" sz="3116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An Infrared (IR) sensor is an electronic device used to detect infrared radiation.</a:t>
            </a:r>
          </a:p>
          <a:p>
            <a:pPr marL="672873" lvl="1" indent="-336436" algn="ctr">
              <a:lnSpc>
                <a:spcPts val="4363"/>
              </a:lnSpc>
              <a:buFont typeface="Arial"/>
              <a:buChar char="•"/>
            </a:pPr>
            <a:r>
              <a:rPr lang="en-US" sz="3116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It can sense objects, motion, and heat without physical contact.</a:t>
            </a:r>
          </a:p>
          <a:p>
            <a:pPr marL="672873" lvl="1" indent="-336436" algn="ctr">
              <a:lnSpc>
                <a:spcPts val="4363"/>
              </a:lnSpc>
              <a:buFont typeface="Arial"/>
              <a:buChar char="•"/>
            </a:pPr>
            <a:r>
              <a:rPr lang="en-US" sz="3116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IR sensors are widely used inrobotics, automation, and security systems.</a:t>
            </a:r>
          </a:p>
          <a:p>
            <a:pPr algn="ctr">
              <a:lnSpc>
                <a:spcPts val="4363"/>
              </a:lnSpc>
            </a:pPr>
            <a:endParaRPr lang="en-US" sz="3116" b="1">
              <a:solidFill>
                <a:srgbClr val="000000"/>
              </a:solidFill>
              <a:latin typeface="ITC Avant Garde Gothic Bold"/>
              <a:ea typeface="ITC Avant Garde Gothic Bold"/>
              <a:cs typeface="ITC Avant Garde Gothic Bold"/>
              <a:sym typeface="ITC Avant Garde Gothic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19050" y="82486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249650" y="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365463"/>
            <a:ext cx="2037880" cy="663237"/>
          </a:xfrm>
          <a:custGeom>
            <a:avLst/>
            <a:gdLst/>
            <a:ahLst/>
            <a:cxnLst/>
            <a:rect l="l" t="t" r="r" b="b"/>
            <a:pathLst>
              <a:path w="2037880" h="663237">
                <a:moveTo>
                  <a:pt x="0" y="0"/>
                </a:moveTo>
                <a:lnTo>
                  <a:pt x="2037880" y="0"/>
                </a:lnTo>
                <a:lnTo>
                  <a:pt x="2037880" y="663237"/>
                </a:lnTo>
                <a:lnTo>
                  <a:pt x="0" y="663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44442" y="9128005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765948" y="3204623"/>
            <a:ext cx="5250273" cy="4738058"/>
          </a:xfrm>
          <a:custGeom>
            <a:avLst/>
            <a:gdLst/>
            <a:ahLst/>
            <a:cxnLst/>
            <a:rect l="l" t="t" r="r" b="b"/>
            <a:pathLst>
              <a:path w="5250273" h="4738058">
                <a:moveTo>
                  <a:pt x="0" y="0"/>
                </a:moveTo>
                <a:lnTo>
                  <a:pt x="5250273" y="0"/>
                </a:lnTo>
                <a:lnTo>
                  <a:pt x="5250273" y="4738058"/>
                </a:lnTo>
                <a:lnTo>
                  <a:pt x="0" y="47380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0162" r="-10162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844733" y="752475"/>
            <a:ext cx="13724225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WHAT IS INFRARED RADIATION?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71677" y="3983159"/>
            <a:ext cx="9135168" cy="3047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1746" lvl="1" indent="-365873" algn="just">
              <a:lnSpc>
                <a:spcPts val="4744"/>
              </a:lnSpc>
              <a:buFont typeface="Arial"/>
              <a:buChar char="•"/>
            </a:pPr>
            <a:r>
              <a:rPr lang="en-US" sz="3389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Infrared is a type of electromagnetic wave Wavelength range: 700 nm – 1 mm Invisible to humaneyes</a:t>
            </a:r>
          </a:p>
          <a:p>
            <a:pPr marL="731746" lvl="1" indent="-365873" algn="just">
              <a:lnSpc>
                <a:spcPts val="4744"/>
              </a:lnSpc>
              <a:buFont typeface="Arial"/>
              <a:buChar char="•"/>
            </a:pPr>
            <a:r>
              <a:rPr lang="en-US" sz="3389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Emitted by all warm objects</a:t>
            </a:r>
          </a:p>
          <a:p>
            <a:pPr algn="just">
              <a:lnSpc>
                <a:spcPts val="4744"/>
              </a:lnSpc>
            </a:pPr>
            <a:endParaRPr lang="en-US" sz="3389" b="1">
              <a:solidFill>
                <a:srgbClr val="000000"/>
              </a:solidFill>
              <a:latin typeface="ITC Avant Garde Gothic Bold"/>
              <a:ea typeface="ITC Avant Garde Gothic Bold"/>
              <a:cs typeface="ITC Avant Garde Gothic Bold"/>
              <a:sym typeface="ITC Avant Garde Gothic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19050" y="82486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249650" y="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760" y="365463"/>
            <a:ext cx="2037880" cy="663237"/>
          </a:xfrm>
          <a:custGeom>
            <a:avLst/>
            <a:gdLst/>
            <a:ahLst/>
            <a:cxnLst/>
            <a:rect l="l" t="t" r="r" b="b"/>
            <a:pathLst>
              <a:path w="2037880" h="663237">
                <a:moveTo>
                  <a:pt x="0" y="0"/>
                </a:moveTo>
                <a:lnTo>
                  <a:pt x="2037880" y="0"/>
                </a:lnTo>
                <a:lnTo>
                  <a:pt x="2037880" y="663237"/>
                </a:lnTo>
                <a:lnTo>
                  <a:pt x="0" y="663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5392" y="9258300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608862" y="5405168"/>
            <a:ext cx="4148729" cy="3853132"/>
          </a:xfrm>
          <a:custGeom>
            <a:avLst/>
            <a:gdLst/>
            <a:ahLst/>
            <a:cxnLst/>
            <a:rect l="l" t="t" r="r" b="b"/>
            <a:pathLst>
              <a:path w="4148729" h="3853132">
                <a:moveTo>
                  <a:pt x="0" y="0"/>
                </a:moveTo>
                <a:lnTo>
                  <a:pt x="4148729" y="0"/>
                </a:lnTo>
                <a:lnTo>
                  <a:pt x="4148729" y="3853132"/>
                </a:lnTo>
                <a:lnTo>
                  <a:pt x="0" y="38531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773114" y="5681529"/>
            <a:ext cx="3952279" cy="3300409"/>
          </a:xfrm>
          <a:custGeom>
            <a:avLst/>
            <a:gdLst/>
            <a:ahLst/>
            <a:cxnLst/>
            <a:rect l="l" t="t" r="r" b="b"/>
            <a:pathLst>
              <a:path w="3952279" h="3300409">
                <a:moveTo>
                  <a:pt x="0" y="0"/>
                </a:moveTo>
                <a:lnTo>
                  <a:pt x="3952278" y="0"/>
                </a:lnTo>
                <a:lnTo>
                  <a:pt x="3952278" y="3300410"/>
                </a:lnTo>
                <a:lnTo>
                  <a:pt x="0" y="3300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91996" y="1268413"/>
            <a:ext cx="11704008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TYPES OF IR SENSORS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6597" y="3350895"/>
            <a:ext cx="8433260" cy="179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ACTIVE IR SENSOR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USES IR TRANSMITTER AND RECEIVER USED FOR OBSTACLE DETECTION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391705" y="3350895"/>
            <a:ext cx="7867595" cy="179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PASSIVE IR SENSOR (PIR)</a:t>
            </a:r>
          </a:p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sz="3300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DETECTS HEAT FROM OBJECTS USED FOR MOTION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19050" y="82486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249650" y="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7798" y="346413"/>
            <a:ext cx="2037880" cy="663237"/>
          </a:xfrm>
          <a:custGeom>
            <a:avLst/>
            <a:gdLst/>
            <a:ahLst/>
            <a:cxnLst/>
            <a:rect l="l" t="t" r="r" b="b"/>
            <a:pathLst>
              <a:path w="2037880" h="663237">
                <a:moveTo>
                  <a:pt x="0" y="0"/>
                </a:moveTo>
                <a:lnTo>
                  <a:pt x="2037880" y="0"/>
                </a:lnTo>
                <a:lnTo>
                  <a:pt x="2037880" y="663237"/>
                </a:lnTo>
                <a:lnTo>
                  <a:pt x="0" y="663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44442" y="9144678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277277" y="2916340"/>
            <a:ext cx="5331299" cy="5331299"/>
          </a:xfrm>
          <a:custGeom>
            <a:avLst/>
            <a:gdLst/>
            <a:ahLst/>
            <a:cxnLst/>
            <a:rect l="l" t="t" r="r" b="b"/>
            <a:pathLst>
              <a:path w="5331299" h="5331299">
                <a:moveTo>
                  <a:pt x="0" y="0"/>
                </a:moveTo>
                <a:lnTo>
                  <a:pt x="5331298" y="0"/>
                </a:lnTo>
                <a:lnTo>
                  <a:pt x="5331298" y="5331298"/>
                </a:lnTo>
                <a:lnTo>
                  <a:pt x="0" y="53312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0000" r="-3000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27863" y="752475"/>
            <a:ext cx="14316579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COMPONENTS OF IR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7798" y="3871882"/>
            <a:ext cx="10281602" cy="4570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55270" indent="-356235">
              <a:lnSpc>
                <a:spcPct val="150000"/>
              </a:lnSpc>
              <a:buFont typeface="Arial"/>
              <a:buChar char="•"/>
            </a:pPr>
            <a:r>
              <a:rPr lang="en-US" sz="3300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IR Transmitter (IR LED)</a:t>
            </a:r>
          </a:p>
          <a:p>
            <a:pPr marL="255270" indent="-356235">
              <a:lnSpc>
                <a:spcPct val="150000"/>
              </a:lnSpc>
              <a:buFont typeface="Arial"/>
              <a:buChar char="•"/>
            </a:pPr>
            <a:r>
              <a:rPr lang="en-US" sz="3300" b="1" dirty="0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IR Receiver </a:t>
            </a:r>
            <a:r>
              <a:rPr lang="en-US" sz="3300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(</a:t>
            </a:r>
            <a:r>
              <a:rPr lang="en-US" sz="3300" b="1" dirty="0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Photodiode / </a:t>
            </a:r>
            <a:r>
              <a:rPr lang="en-US" sz="3300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Phototransistor) LM358 Comparator IC</a:t>
            </a:r>
          </a:p>
          <a:p>
            <a:pPr marL="255270" indent="-356235">
              <a:lnSpc>
                <a:spcPct val="150000"/>
              </a:lnSpc>
              <a:buFont typeface="Arial"/>
              <a:buChar char="•"/>
            </a:pPr>
            <a:r>
              <a:rPr lang="en-US" sz="3300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Potentiometer (Sensitivity control) </a:t>
            </a:r>
            <a:r>
              <a:rPr lang="en-US" sz="3300" b="1" dirty="0" err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OutputLED</a:t>
            </a:r>
            <a:endParaRPr lang="en-US" sz="3300" b="1" dirty="0">
              <a:solidFill>
                <a:srgbClr val="000000"/>
              </a:solidFill>
              <a:latin typeface="ITC Avant Garde Gothic Bold"/>
              <a:ea typeface="ITC Avant Garde Gothic Bold"/>
              <a:cs typeface="ITC Avant Garde Gothic Bold"/>
              <a:sym typeface="ITC Avant Garde Gothic Bold"/>
            </a:endParaRPr>
          </a:p>
          <a:p>
            <a:pPr marL="255270" indent="-356235">
              <a:lnSpc>
                <a:spcPct val="150000"/>
              </a:lnSpc>
              <a:buFont typeface="Arial"/>
              <a:buChar char="•"/>
            </a:pPr>
            <a:r>
              <a:rPr lang="en-US" sz="3300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VCC, GND, OUT Pins</a:t>
            </a:r>
          </a:p>
          <a:p>
            <a:pPr algn="just">
              <a:lnSpc>
                <a:spcPct val="150000"/>
              </a:lnSpc>
            </a:pPr>
            <a:endParaRPr lang="en-US" sz="3300" b="1" dirty="0">
              <a:solidFill>
                <a:srgbClr val="000000"/>
              </a:solidFill>
              <a:latin typeface="ITC Avant Garde Gothic Bold"/>
              <a:ea typeface="ITC Avant Garde Gothic Bold"/>
              <a:cs typeface="ITC Avant Garde Gothic Bold"/>
              <a:sym typeface="ITC Avant Garde Gothic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19050" y="82486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249650" y="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383473"/>
            <a:ext cx="2037880" cy="663237"/>
          </a:xfrm>
          <a:custGeom>
            <a:avLst/>
            <a:gdLst/>
            <a:ahLst/>
            <a:cxnLst/>
            <a:rect l="l" t="t" r="r" b="b"/>
            <a:pathLst>
              <a:path w="2037880" h="663237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44442" y="9175402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129333" y="2173941"/>
            <a:ext cx="10158667" cy="4138639"/>
          </a:xfrm>
          <a:custGeom>
            <a:avLst/>
            <a:gdLst/>
            <a:ahLst/>
            <a:cxnLst/>
            <a:rect l="l" t="t" r="r" b="b"/>
            <a:pathLst>
              <a:path w="10158667" h="4138639">
                <a:moveTo>
                  <a:pt x="0" y="0"/>
                </a:moveTo>
                <a:lnTo>
                  <a:pt x="10158667" y="0"/>
                </a:lnTo>
                <a:lnTo>
                  <a:pt x="10158667" y="4138640"/>
                </a:lnTo>
                <a:lnTo>
                  <a:pt x="0" y="413864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653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291996" y="457917"/>
            <a:ext cx="11704008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WORKING METHODOLOGY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62000" y="1333501"/>
            <a:ext cx="7620000" cy="6334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3049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1.IR LED EMITS INFRARED </a:t>
            </a:r>
            <a:r>
              <a:rPr lang="en-US" sz="3049" b="1" dirty="0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RADIATION</a:t>
            </a:r>
            <a:endParaRPr lang="en-US" sz="3049" b="1" dirty="0">
              <a:solidFill>
                <a:srgbClr val="000000"/>
              </a:solidFill>
              <a:latin typeface="ITC Avant Garde Gothic Bold"/>
              <a:ea typeface="ITC Avant Garde Gothic Bold"/>
              <a:cs typeface="ITC Avant Garde Gothic Bold"/>
              <a:sym typeface="ITC Avant Garde Gothic Bold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3049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2.RADIATION STRIKES AN </a:t>
            </a:r>
            <a:r>
              <a:rPr lang="en-US" sz="3049" b="1" dirty="0" smtClean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OBJECT</a:t>
            </a:r>
            <a:endParaRPr lang="en-US" sz="3049" b="1" dirty="0">
              <a:solidFill>
                <a:srgbClr val="000000"/>
              </a:solidFill>
              <a:latin typeface="ITC Avant Garde Gothic Bold"/>
              <a:ea typeface="ITC Avant Garde Gothic Bold"/>
              <a:cs typeface="ITC Avant Garde Gothic Bold"/>
              <a:sym typeface="ITC Avant Garde Gothic Bold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3049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3.REFLECTED IR LIGHT IS RECEIVED BY THE PHOTODIODE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3049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4.LM358 COMPARATOR COMPARES SIGNAL WITH REFERENCE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3049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5.OUTPUT CHANGES TO HIGH OR LOW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3049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6.MICROCONTROLLER READS THE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19050" y="82486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249650" y="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760" y="365463"/>
            <a:ext cx="2037880" cy="663237"/>
          </a:xfrm>
          <a:custGeom>
            <a:avLst/>
            <a:gdLst/>
            <a:ahLst/>
            <a:cxnLst/>
            <a:rect l="l" t="t" r="r" b="b"/>
            <a:pathLst>
              <a:path w="2037880" h="663237">
                <a:moveTo>
                  <a:pt x="0" y="0"/>
                </a:moveTo>
                <a:lnTo>
                  <a:pt x="2037880" y="0"/>
                </a:lnTo>
                <a:lnTo>
                  <a:pt x="2037880" y="663237"/>
                </a:lnTo>
                <a:lnTo>
                  <a:pt x="0" y="663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44442" y="9258300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029950" y="2019300"/>
            <a:ext cx="6356958" cy="6356958"/>
          </a:xfrm>
          <a:custGeom>
            <a:avLst/>
            <a:gdLst/>
            <a:ahLst/>
            <a:cxnLst/>
            <a:rect l="l" t="t" r="r" b="b"/>
            <a:pathLst>
              <a:path w="6356958" h="6356958">
                <a:moveTo>
                  <a:pt x="0" y="0"/>
                </a:moveTo>
                <a:lnTo>
                  <a:pt x="6356958" y="0"/>
                </a:lnTo>
                <a:lnTo>
                  <a:pt x="6356958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99490" y="752475"/>
            <a:ext cx="11704008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FEATURES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9200" y="1638301"/>
            <a:ext cx="8077200" cy="7536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04935" lvl="1" indent="-352468">
              <a:lnSpc>
                <a:spcPct val="150000"/>
              </a:lnSpc>
              <a:buFont typeface="Arial"/>
              <a:buChar char="•"/>
            </a:pPr>
            <a:r>
              <a:rPr lang="en-US" sz="3265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Power Supply: +5V DC Quiescent Current: &lt; 2mA Working Current: 15mA Effectual Angle: &lt; 15°</a:t>
            </a:r>
          </a:p>
          <a:p>
            <a:pPr marL="704935" lvl="1" indent="-352468">
              <a:lnSpc>
                <a:spcPct val="150000"/>
              </a:lnSpc>
              <a:buFont typeface="Arial"/>
              <a:buChar char="•"/>
            </a:pPr>
            <a:r>
              <a:rPr lang="en-US" sz="3265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Ranging Distance: 2 cm – 400 cm / 1″ – 13 </a:t>
            </a:r>
            <a:r>
              <a:rPr lang="en-US" sz="3265" b="1" dirty="0" err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ft</a:t>
            </a:r>
            <a:r>
              <a:rPr lang="en-US" sz="3265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Resolution: 0.3 cm</a:t>
            </a:r>
          </a:p>
          <a:p>
            <a:pPr marL="704935" lvl="1" indent="-352468">
              <a:lnSpc>
                <a:spcPct val="150000"/>
              </a:lnSpc>
              <a:buFont typeface="Arial"/>
              <a:buChar char="•"/>
            </a:pPr>
            <a:r>
              <a:rPr lang="en-US" sz="3265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Measuring Angle: 30°</a:t>
            </a:r>
          </a:p>
          <a:p>
            <a:pPr marL="704935" lvl="1" indent="-352468">
              <a:lnSpc>
                <a:spcPct val="150000"/>
              </a:lnSpc>
              <a:buFont typeface="Arial"/>
              <a:buChar char="•"/>
            </a:pPr>
            <a:r>
              <a:rPr lang="en-US" sz="3265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Trigger Input Pulse Width: 10 µs Dimensions: 45 mm × 20 mm × 15 mm</a:t>
            </a:r>
          </a:p>
          <a:p>
            <a:pPr>
              <a:lnSpc>
                <a:spcPct val="150000"/>
              </a:lnSpc>
            </a:pPr>
            <a:endParaRPr lang="en-US" sz="3265" b="1" dirty="0">
              <a:solidFill>
                <a:srgbClr val="000000"/>
              </a:solidFill>
              <a:latin typeface="ITC Avant Garde Gothic Bold"/>
              <a:ea typeface="ITC Avant Garde Gothic Bold"/>
              <a:cs typeface="ITC Avant Garde Gothic Bold"/>
              <a:sym typeface="ITC Avant Garde Gothic 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19050" y="82486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249650" y="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383473"/>
            <a:ext cx="2037880" cy="663237"/>
          </a:xfrm>
          <a:custGeom>
            <a:avLst/>
            <a:gdLst/>
            <a:ahLst/>
            <a:cxnLst/>
            <a:rect l="l" t="t" r="r" b="b"/>
            <a:pathLst>
              <a:path w="2037880" h="663237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5392" y="9258300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891521" y="3169587"/>
            <a:ext cx="7105650" cy="4938427"/>
          </a:xfrm>
          <a:custGeom>
            <a:avLst/>
            <a:gdLst/>
            <a:ahLst/>
            <a:cxnLst/>
            <a:rect l="l" t="t" r="r" b="b"/>
            <a:pathLst>
              <a:path w="7105650" h="4938427">
                <a:moveTo>
                  <a:pt x="0" y="0"/>
                </a:moveTo>
                <a:lnTo>
                  <a:pt x="7105650" y="0"/>
                </a:lnTo>
                <a:lnTo>
                  <a:pt x="7105650" y="4938426"/>
                </a:lnTo>
                <a:lnTo>
                  <a:pt x="0" y="49384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984503" y="789536"/>
            <a:ext cx="11704008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DIAGRAM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20454" y="3724368"/>
            <a:ext cx="5462263" cy="2714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10"/>
              </a:lnSpc>
              <a:spcBef>
                <a:spcPct val="0"/>
              </a:spcBef>
            </a:pPr>
            <a:r>
              <a:rPr lang="en-US" sz="3007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CONNECTIONS:</a:t>
            </a:r>
          </a:p>
          <a:p>
            <a:pPr algn="l">
              <a:lnSpc>
                <a:spcPts val="4210"/>
              </a:lnSpc>
              <a:spcBef>
                <a:spcPct val="0"/>
              </a:spcBef>
            </a:pPr>
            <a:r>
              <a:rPr lang="en-US" sz="3007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IR VCC → ARDUINO 5V</a:t>
            </a:r>
          </a:p>
          <a:p>
            <a:pPr algn="l">
              <a:lnSpc>
                <a:spcPts val="4210"/>
              </a:lnSpc>
              <a:spcBef>
                <a:spcPct val="0"/>
              </a:spcBef>
            </a:pPr>
            <a:r>
              <a:rPr lang="en-US" sz="3007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IR GND → ARDUINO GND</a:t>
            </a:r>
          </a:p>
          <a:p>
            <a:pPr algn="l">
              <a:lnSpc>
                <a:spcPts val="4210"/>
              </a:lnSpc>
              <a:spcBef>
                <a:spcPct val="0"/>
              </a:spcBef>
            </a:pPr>
            <a:r>
              <a:rPr lang="en-US" sz="3007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IR OUT → ARDUINO DIGITAL PIN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19050" y="82486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6249650" y="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9050" y="346413"/>
            <a:ext cx="2037880" cy="663237"/>
          </a:xfrm>
          <a:custGeom>
            <a:avLst/>
            <a:gdLst/>
            <a:ahLst/>
            <a:cxnLst/>
            <a:rect l="l" t="t" r="r" b="b"/>
            <a:pathLst>
              <a:path w="2037880" h="663237">
                <a:moveTo>
                  <a:pt x="0" y="0"/>
                </a:moveTo>
                <a:lnTo>
                  <a:pt x="2037880" y="0"/>
                </a:lnTo>
                <a:lnTo>
                  <a:pt x="2037880" y="663237"/>
                </a:lnTo>
                <a:lnTo>
                  <a:pt x="0" y="6632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44442" y="9258300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342608" y="2019300"/>
            <a:ext cx="4916692" cy="6780412"/>
          </a:xfrm>
          <a:custGeom>
            <a:avLst/>
            <a:gdLst/>
            <a:ahLst/>
            <a:cxnLst/>
            <a:rect l="l" t="t" r="r" b="b"/>
            <a:pathLst>
              <a:path w="4916692" h="6780412">
                <a:moveTo>
                  <a:pt x="0" y="0"/>
                </a:moveTo>
                <a:lnTo>
                  <a:pt x="4916692" y="0"/>
                </a:lnTo>
                <a:lnTo>
                  <a:pt x="4916692" y="6780412"/>
                </a:lnTo>
                <a:lnTo>
                  <a:pt x="0" y="67804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705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409596" y="752475"/>
            <a:ext cx="10922413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LIBRARY INSTALLATION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4078" y="2526404"/>
            <a:ext cx="10048726" cy="5363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1"/>
              </a:lnSpc>
              <a:spcBef>
                <a:spcPct val="0"/>
              </a:spcBef>
            </a:pPr>
            <a:r>
              <a:rPr lang="en-US" sz="3351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1.CONNECT THE IR SENSOR TO YOUR ARDUINO.</a:t>
            </a:r>
          </a:p>
          <a:p>
            <a:pPr algn="l">
              <a:lnSpc>
                <a:spcPts val="4691"/>
              </a:lnSpc>
              <a:spcBef>
                <a:spcPct val="0"/>
              </a:spcBef>
            </a:pPr>
            <a:r>
              <a:rPr lang="en-US" sz="3351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2.OPEN ARDUINO IDE.</a:t>
            </a:r>
          </a:p>
          <a:p>
            <a:pPr algn="l">
              <a:lnSpc>
                <a:spcPts val="4691"/>
              </a:lnSpc>
              <a:spcBef>
                <a:spcPct val="0"/>
              </a:spcBef>
            </a:pPr>
            <a:r>
              <a:rPr lang="en-US" sz="3351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3.SELECT YOUR BOARD:</a:t>
            </a:r>
          </a:p>
          <a:p>
            <a:pPr algn="l">
              <a:lnSpc>
                <a:spcPts val="4691"/>
              </a:lnSpc>
              <a:spcBef>
                <a:spcPct val="0"/>
              </a:spcBef>
            </a:pPr>
            <a:r>
              <a:rPr lang="en-US" sz="3351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4.TOOLS ➜ BOARD ➜ ARDUINO UNO</a:t>
            </a:r>
          </a:p>
          <a:p>
            <a:pPr algn="l">
              <a:lnSpc>
                <a:spcPts val="4691"/>
              </a:lnSpc>
              <a:spcBef>
                <a:spcPct val="0"/>
              </a:spcBef>
            </a:pPr>
            <a:r>
              <a:rPr lang="en-US" sz="3351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5.SELECT CORRECT COM PORT:</a:t>
            </a:r>
          </a:p>
          <a:p>
            <a:pPr algn="l">
              <a:lnSpc>
                <a:spcPts val="4691"/>
              </a:lnSpc>
              <a:spcBef>
                <a:spcPct val="0"/>
              </a:spcBef>
            </a:pPr>
            <a:r>
              <a:rPr lang="en-US" sz="3351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6.TOOLS ➜ PORT ➜ (YOUR PORT)</a:t>
            </a:r>
          </a:p>
          <a:p>
            <a:pPr algn="l">
              <a:lnSpc>
                <a:spcPts val="4691"/>
              </a:lnSpc>
              <a:spcBef>
                <a:spcPct val="0"/>
              </a:spcBef>
            </a:pPr>
            <a:r>
              <a:rPr lang="en-US" sz="3351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7.COPY THE CODE BELOW.</a:t>
            </a:r>
          </a:p>
          <a:p>
            <a:pPr algn="l">
              <a:lnSpc>
                <a:spcPts val="4691"/>
              </a:lnSpc>
              <a:spcBef>
                <a:spcPct val="0"/>
              </a:spcBef>
            </a:pPr>
            <a:r>
              <a:rPr lang="en-US" sz="3351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8.CLICK UPLOAD.</a:t>
            </a:r>
          </a:p>
          <a:p>
            <a:pPr algn="l">
              <a:lnSpc>
                <a:spcPts val="4691"/>
              </a:lnSpc>
              <a:spcBef>
                <a:spcPct val="0"/>
              </a:spcBef>
            </a:pPr>
            <a:r>
              <a:rPr lang="en-US" sz="3351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9.OPEN SERIAL MONITOR (9600 BAUD RATE).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19062" y="1622121"/>
            <a:ext cx="6417713" cy="7042758"/>
          </a:xfrm>
          <a:custGeom>
            <a:avLst/>
            <a:gdLst/>
            <a:ahLst/>
            <a:cxnLst/>
            <a:rect l="l" t="t" r="r" b="b"/>
            <a:pathLst>
              <a:path w="6417713" h="7042758">
                <a:moveTo>
                  <a:pt x="0" y="0"/>
                </a:moveTo>
                <a:lnTo>
                  <a:pt x="6417713" y="0"/>
                </a:lnTo>
                <a:lnTo>
                  <a:pt x="6417713" y="7042758"/>
                </a:lnTo>
                <a:lnTo>
                  <a:pt x="0" y="7042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198492" y="1050963"/>
            <a:ext cx="4561376" cy="7613916"/>
          </a:xfrm>
          <a:custGeom>
            <a:avLst/>
            <a:gdLst/>
            <a:ahLst/>
            <a:cxnLst/>
            <a:rect l="l" t="t" r="r" b="b"/>
            <a:pathLst>
              <a:path w="4561376" h="7613916">
                <a:moveTo>
                  <a:pt x="0" y="0"/>
                </a:moveTo>
                <a:lnTo>
                  <a:pt x="4561376" y="0"/>
                </a:lnTo>
                <a:lnTo>
                  <a:pt x="4561376" y="7613916"/>
                </a:lnTo>
                <a:lnTo>
                  <a:pt x="0" y="76139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9542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409730" y="167430"/>
            <a:ext cx="6788762" cy="1166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CORE CODE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3058" y="9018803"/>
            <a:ext cx="8491476" cy="453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6"/>
              </a:lnSpc>
              <a:spcBef>
                <a:spcPct val="0"/>
              </a:spcBef>
            </a:pPr>
            <a:r>
              <a:rPr lang="en-US" sz="2397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OBSTACLE AVOIDANCE ROBOT (ARDUINO)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94535" y="9018858"/>
            <a:ext cx="10332592" cy="45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IR PROXIMITY SECURITY ALARM (BUZZER)</a:t>
            </a:r>
          </a:p>
        </p:txBody>
      </p:sp>
      <p:sp>
        <p:nvSpPr>
          <p:cNvPr id="7" name="Freeform 7"/>
          <p:cNvSpPr/>
          <p:nvPr/>
        </p:nvSpPr>
        <p:spPr>
          <a:xfrm>
            <a:off x="0" y="383473"/>
            <a:ext cx="2037880" cy="663237"/>
          </a:xfrm>
          <a:custGeom>
            <a:avLst/>
            <a:gdLst/>
            <a:ahLst/>
            <a:cxnLst/>
            <a:rect l="l" t="t" r="r" b="b"/>
            <a:pathLst>
              <a:path w="2037880" h="663237">
                <a:moveTo>
                  <a:pt x="0" y="0"/>
                </a:moveTo>
                <a:lnTo>
                  <a:pt x="2037880" y="0"/>
                </a:lnTo>
                <a:lnTo>
                  <a:pt x="2037880" y="663238"/>
                </a:lnTo>
                <a:lnTo>
                  <a:pt x="0" y="663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6249650" y="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2019300"/>
                </a:moveTo>
                <a:lnTo>
                  <a:pt x="0" y="2019300"/>
                </a:lnTo>
                <a:lnTo>
                  <a:pt x="0" y="0"/>
                </a:lnTo>
                <a:lnTo>
                  <a:pt x="2019300" y="0"/>
                </a:lnTo>
                <a:lnTo>
                  <a:pt x="2019300" y="20193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400000" flipH="1">
            <a:off x="19050" y="8248650"/>
            <a:ext cx="2019300" cy="2019300"/>
          </a:xfrm>
          <a:custGeom>
            <a:avLst/>
            <a:gdLst/>
            <a:ahLst/>
            <a:cxnLst/>
            <a:rect l="l" t="t" r="r" b="b"/>
            <a:pathLst>
              <a:path w="2019300" h="2019300">
                <a:moveTo>
                  <a:pt x="2019300" y="0"/>
                </a:moveTo>
                <a:lnTo>
                  <a:pt x="0" y="0"/>
                </a:lnTo>
                <a:lnTo>
                  <a:pt x="0" y="2019300"/>
                </a:lnTo>
                <a:lnTo>
                  <a:pt x="2019300" y="2019300"/>
                </a:lnTo>
                <a:lnTo>
                  <a:pt x="201930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744442" y="9258300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71807" y="543037"/>
            <a:ext cx="4282420" cy="8229600"/>
          </a:xfrm>
          <a:custGeom>
            <a:avLst/>
            <a:gdLst/>
            <a:ahLst/>
            <a:cxnLst/>
            <a:rect l="l" t="t" r="r" b="b"/>
            <a:pathLst>
              <a:path w="4282420" h="8229600">
                <a:moveTo>
                  <a:pt x="0" y="0"/>
                </a:moveTo>
                <a:lnTo>
                  <a:pt x="4282420" y="0"/>
                </a:lnTo>
                <a:lnTo>
                  <a:pt x="4282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858204" y="1469936"/>
            <a:ext cx="4282420" cy="8229600"/>
          </a:xfrm>
          <a:custGeom>
            <a:avLst/>
            <a:gdLst/>
            <a:ahLst/>
            <a:cxnLst/>
            <a:rect l="l" t="t" r="r" b="b"/>
            <a:pathLst>
              <a:path w="4282420" h="8229600">
                <a:moveTo>
                  <a:pt x="428242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4282420" y="0"/>
                </a:lnTo>
                <a:lnTo>
                  <a:pt x="4282420" y="82296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9285630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44442" y="223225"/>
            <a:ext cx="2543558" cy="827812"/>
          </a:xfrm>
          <a:custGeom>
            <a:avLst/>
            <a:gdLst/>
            <a:ahLst/>
            <a:cxnLst/>
            <a:rect l="l" t="t" r="r" b="b"/>
            <a:pathLst>
              <a:path w="2543558" h="827812">
                <a:moveTo>
                  <a:pt x="0" y="0"/>
                </a:moveTo>
                <a:lnTo>
                  <a:pt x="2543558" y="0"/>
                </a:lnTo>
                <a:lnTo>
                  <a:pt x="2543558" y="827812"/>
                </a:lnTo>
                <a:lnTo>
                  <a:pt x="0" y="8278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804540" y="1009857"/>
            <a:ext cx="13858395" cy="24878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378"/>
              </a:lnSpc>
            </a:pPr>
            <a:r>
              <a:rPr lang="en-US" sz="13841" b="1" dirty="0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THANK YOU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051884" y="3890010"/>
            <a:ext cx="12184231" cy="2373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1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“An IR sensor is a low-cost and reliable device that detects objects using infrared light. It is widely used in automation, robotics, and security systems to improve efficiency and safety.”</a:t>
            </a:r>
          </a:p>
        </p:txBody>
      </p:sp>
      <p:sp>
        <p:nvSpPr>
          <p:cNvPr id="8" name="Freeform 8"/>
          <p:cNvSpPr/>
          <p:nvPr/>
        </p:nvSpPr>
        <p:spPr>
          <a:xfrm>
            <a:off x="0" y="0"/>
            <a:ext cx="5998829" cy="5998829"/>
          </a:xfrm>
          <a:custGeom>
            <a:avLst/>
            <a:gdLst/>
            <a:ahLst/>
            <a:cxnLst/>
            <a:rect l="l" t="t" r="r" b="b"/>
            <a:pathLst>
              <a:path w="5998829" h="5998829">
                <a:moveTo>
                  <a:pt x="0" y="0"/>
                </a:moveTo>
                <a:lnTo>
                  <a:pt x="5998829" y="0"/>
                </a:lnTo>
                <a:lnTo>
                  <a:pt x="5998829" y="5998829"/>
                </a:lnTo>
                <a:lnTo>
                  <a:pt x="0" y="599882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400000">
            <a:off x="1631923" y="1056030"/>
            <a:ext cx="3073400" cy="3073400"/>
          </a:xfrm>
          <a:custGeom>
            <a:avLst/>
            <a:gdLst/>
            <a:ahLst/>
            <a:cxnLst/>
            <a:rect l="l" t="t" r="r" b="b"/>
            <a:pathLst>
              <a:path w="3073400" h="3073400">
                <a:moveTo>
                  <a:pt x="0" y="0"/>
                </a:moveTo>
                <a:lnTo>
                  <a:pt x="3073400" y="0"/>
                </a:lnTo>
                <a:lnTo>
                  <a:pt x="3073400" y="3073400"/>
                </a:lnTo>
                <a:lnTo>
                  <a:pt x="0" y="3073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 flipV="1">
            <a:off x="12289171" y="4310508"/>
            <a:ext cx="5998829" cy="5998829"/>
          </a:xfrm>
          <a:custGeom>
            <a:avLst/>
            <a:gdLst/>
            <a:ahLst/>
            <a:cxnLst/>
            <a:rect l="l" t="t" r="r" b="b"/>
            <a:pathLst>
              <a:path w="5998829" h="5998829">
                <a:moveTo>
                  <a:pt x="5998829" y="5998829"/>
                </a:moveTo>
                <a:lnTo>
                  <a:pt x="0" y="5998829"/>
                </a:lnTo>
                <a:lnTo>
                  <a:pt x="0" y="0"/>
                </a:lnTo>
                <a:lnTo>
                  <a:pt x="5998829" y="0"/>
                </a:lnTo>
                <a:lnTo>
                  <a:pt x="5998829" y="5998829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5400000" flipH="1" flipV="1">
            <a:off x="14185900" y="6207237"/>
            <a:ext cx="3073400" cy="3073400"/>
          </a:xfrm>
          <a:custGeom>
            <a:avLst/>
            <a:gdLst/>
            <a:ahLst/>
            <a:cxnLst/>
            <a:rect l="l" t="t" r="r" b="b"/>
            <a:pathLst>
              <a:path w="3073400" h="3073400">
                <a:moveTo>
                  <a:pt x="3073400" y="3073400"/>
                </a:moveTo>
                <a:lnTo>
                  <a:pt x="0" y="3073400"/>
                </a:lnTo>
                <a:lnTo>
                  <a:pt x="0" y="0"/>
                </a:lnTo>
                <a:lnTo>
                  <a:pt x="3073400" y="0"/>
                </a:lnTo>
                <a:lnTo>
                  <a:pt x="3073400" y="30734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804540" y="6717469"/>
            <a:ext cx="9567267" cy="592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b="1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  <a:hlinkClick r:id="rId9" tooltip="https://www.youtube.com/watch?v=t7k9D1jDEtk"/>
              </a:rPr>
              <a:t>https://www.youtube.com/watch?v=t7k9D1jDEtk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395</Words>
  <Application>Microsoft Office PowerPoint</Application>
  <PresentationFormat>Custom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Arimo Bold</vt:lpstr>
      <vt:lpstr>Arial</vt:lpstr>
      <vt:lpstr>ITC Avant Garde Gothic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Violet Black Geometric  Simple Presentation</dc:title>
  <cp:lastModifiedBy>User</cp:lastModifiedBy>
  <cp:revision>6</cp:revision>
  <dcterms:created xsi:type="dcterms:W3CDTF">2006-08-16T00:00:00Z</dcterms:created>
  <dcterms:modified xsi:type="dcterms:W3CDTF">2026-02-23T17:57:24Z</dcterms:modified>
  <dc:identifier>DAHCKBrTXlI</dc:identifier>
</cp:coreProperties>
</file>